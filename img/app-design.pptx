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1" r:id="rId2"/>
    <p:sldId id="323" r:id="rId3"/>
    <p:sldId id="324" r:id="rId4"/>
    <p:sldId id="325" r:id="rId5"/>
    <p:sldId id="326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719"/>
  </p:normalViewPr>
  <p:slideViewPr>
    <p:cSldViewPr snapToGrid="0">
      <p:cViewPr varScale="1">
        <p:scale>
          <a:sx n="115" d="100"/>
          <a:sy n="115" d="100"/>
        </p:scale>
        <p:origin x="44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14FA-9F83-E5E7-B735-54370901A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B8EBE-EC83-26FC-5283-376FAF2B9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58961-E18B-4326-3390-8C68A3AE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0E64F-4233-F979-F314-BEB23A68A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119EB-963B-9F84-BCA4-728255BD7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10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7306-A83D-9232-1761-546E3BE1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3A42B-3431-3627-D6F9-98BD33AFA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78C5D-EC97-1597-AE51-B7FFDBD7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CC2E7-CC78-8029-B661-F8A38E79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E34BE-D0C6-CEC3-5EA3-A82A75686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2806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563E-9DCC-92C6-E80A-87549EA86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AB00B-1203-9280-414B-FB2EAF396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22A0-9356-1BAE-D231-3C6C0FC2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5129-BC71-D139-02BD-408B768EE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8D10-118B-3A91-D6B0-E617A492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965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FE934-4A20-E966-6350-EE76FBA8D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732C9-647B-291A-BAC5-792FF9CEF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4043F-442A-8010-69AB-B1C7EB3D1B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8E61A-BA27-B141-4E42-D064F3D0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B084E-8744-7103-D85F-A488F82CB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B2389-F7BF-D9C3-C447-BC1F28CC2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48552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3FE6F-E00B-6D07-06E4-4F7851977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EABD07-5A17-9968-7C2A-56FFB0A93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7C235-F589-A7A4-D23D-6D84D8208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89AFA-FE03-0C62-B2CE-CF541A5B5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CAF6A7-31A0-E8AF-D36A-5C61F2C4E9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02946-D064-54A3-8231-A9FB37F1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8B7A38-31D8-2485-379B-6068DE0E2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4F629-BAA7-755C-FAA6-10EE4FB59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637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329B-8D93-BBD5-BDFE-5E125E11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600BD-4C2C-B6A6-BF53-C846A1DA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D14CB4-3188-C175-5893-046539CC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D52AE-95F4-F46A-BB37-01FD9879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48123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488405-7040-2700-2FF2-C9929AFF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9AD3F-49CC-82AE-51B1-E64EE6FF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2FFBA-73E0-8C30-1C87-1CDF5722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880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A067-04D0-A100-6DF1-F517780D9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2FFB8-6F0A-9A1B-C792-342B5BB53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414AE-4894-EB26-BB66-9DEFDDFD9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2A27B4-C45B-6F00-D63E-FE54A737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5DBC1-353E-AEAB-1612-C49686B6B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563687-EFA6-623D-146B-DE87AC82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995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0986-7EC7-2E11-3DD3-1FEC288B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4DA3CA-18F1-FA9C-4C25-14FBE381CE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F62E7-C34D-0A9A-5125-023C2D9461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6DA40-1C08-CA04-8242-26ABEDD24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C49ED-C249-8646-FF0B-34275DA23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8B7838-ECB9-1DB6-A5B8-B5D0EB53B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9188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172B-2E88-D6A0-8C4E-12B9E7E8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7B118F-CABB-E6A2-B8A9-B58C6B406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7D42A-5B77-3487-50C2-53C21A03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5D5AF-AC78-DC09-C75E-679F0A394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8B67-1010-43C1-6742-7B70D5DB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39858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85A695-D43B-A3E5-FEAE-1EA7D70401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8CEC87-145E-29C1-E5D6-755D58FDA8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B6CD5-6CA2-AD33-AAD4-C9FFFA56E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D8F76-3B8A-3595-7DBF-153FB88D6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F8B59-2C09-07E8-A5A3-186A1A3E6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1907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205B68-EB90-DC04-6785-1E7C9ED9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E7ED8-9954-0490-E2B2-CD1B0FD3B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9BFF6-F5DC-5B30-3204-BD849F095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F67B6-3A2F-0341-87D1-0E4537B22E46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E843A-F8FF-C45F-5EF9-04E833D8F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BF749-ADE9-2E00-5E6E-FA27BBE1C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0DBAA-CB5B-7E4A-B0F1-9984814A9689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2458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ep 1">
            <a:extLst>
              <a:ext uri="{FF2B5EF4-FFF2-40B4-BE49-F238E27FC236}">
                <a16:creationId xmlns:a16="http://schemas.microsoft.com/office/drawing/2014/main" id="{6001B254-A751-9444-9B4F-37043F8F73D2}"/>
              </a:ext>
            </a:extLst>
          </p:cNvPr>
          <p:cNvGrpSpPr/>
          <p:nvPr/>
        </p:nvGrpSpPr>
        <p:grpSpPr>
          <a:xfrm>
            <a:off x="1977087" y="2514600"/>
            <a:ext cx="914400" cy="914400"/>
            <a:chOff x="1918609" y="2280415"/>
            <a:chExt cx="914400" cy="914400"/>
          </a:xfrm>
        </p:grpSpPr>
        <p:sp>
          <p:nvSpPr>
            <p:cNvPr id="3" name="Teardrop 17">
              <a:extLst>
                <a:ext uri="{FF2B5EF4-FFF2-40B4-BE49-F238E27FC236}">
                  <a16:creationId xmlns:a16="http://schemas.microsoft.com/office/drawing/2014/main" id="{FB7F5EA2-A975-5A44-9352-3DC532A3DB27}"/>
                </a:ext>
              </a:extLst>
            </p:cNvPr>
            <p:cNvSpPr/>
            <p:nvPr/>
          </p:nvSpPr>
          <p:spPr>
            <a:xfrm rot="2688714">
              <a:off x="1918609" y="2280415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4" name="TextBox 18">
              <a:extLst>
                <a:ext uri="{FF2B5EF4-FFF2-40B4-BE49-F238E27FC236}">
                  <a16:creationId xmlns:a16="http://schemas.microsoft.com/office/drawing/2014/main" id="{A6927700-380D-7847-829E-5F26FEC0C679}"/>
                </a:ext>
              </a:extLst>
            </p:cNvPr>
            <p:cNvSpPr txBox="1"/>
            <p:nvPr/>
          </p:nvSpPr>
          <p:spPr>
            <a:xfrm>
              <a:off x="2192105" y="2476005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2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5" name="Groep 4">
            <a:extLst>
              <a:ext uri="{FF2B5EF4-FFF2-40B4-BE49-F238E27FC236}">
                <a16:creationId xmlns:a16="http://schemas.microsoft.com/office/drawing/2014/main" id="{D30BB745-3805-FD43-9456-C0D38456C446}"/>
              </a:ext>
            </a:extLst>
          </p:cNvPr>
          <p:cNvGrpSpPr/>
          <p:nvPr/>
        </p:nvGrpSpPr>
        <p:grpSpPr>
          <a:xfrm>
            <a:off x="2160791" y="3724225"/>
            <a:ext cx="914400" cy="914400"/>
            <a:chOff x="7372752" y="2971799"/>
            <a:chExt cx="914400" cy="914400"/>
          </a:xfrm>
        </p:grpSpPr>
        <p:sp>
          <p:nvSpPr>
            <p:cNvPr id="6" name="Teardrop 12">
              <a:extLst>
                <a:ext uri="{FF2B5EF4-FFF2-40B4-BE49-F238E27FC236}">
                  <a16:creationId xmlns:a16="http://schemas.microsoft.com/office/drawing/2014/main" id="{120C4C50-44C1-CF49-B408-171E4B524850}"/>
                </a:ext>
              </a:extLst>
            </p:cNvPr>
            <p:cNvSpPr/>
            <p:nvPr/>
          </p:nvSpPr>
          <p:spPr>
            <a:xfrm rot="13430058">
              <a:off x="7372752" y="2971799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7" name="TextBox 13">
              <a:extLst>
                <a:ext uri="{FF2B5EF4-FFF2-40B4-BE49-F238E27FC236}">
                  <a16:creationId xmlns:a16="http://schemas.microsoft.com/office/drawing/2014/main" id="{29688840-CF1C-894C-9BAE-682CC4A54524}"/>
                </a:ext>
              </a:extLst>
            </p:cNvPr>
            <p:cNvSpPr txBox="1"/>
            <p:nvPr/>
          </p:nvSpPr>
          <p:spPr>
            <a:xfrm>
              <a:off x="7646248" y="3167389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4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C2933D37-C3A3-DE48-807F-E92BF2C34BCE}"/>
              </a:ext>
            </a:extLst>
          </p:cNvPr>
          <p:cNvGrpSpPr/>
          <p:nvPr/>
        </p:nvGrpSpPr>
        <p:grpSpPr>
          <a:xfrm>
            <a:off x="1977087" y="1187805"/>
            <a:ext cx="914400" cy="914400"/>
            <a:chOff x="7670337" y="1995737"/>
            <a:chExt cx="914400" cy="914400"/>
          </a:xfrm>
        </p:grpSpPr>
        <p:sp>
          <p:nvSpPr>
            <p:cNvPr id="9" name="Teardrop 10">
              <a:extLst>
                <a:ext uri="{FF2B5EF4-FFF2-40B4-BE49-F238E27FC236}">
                  <a16:creationId xmlns:a16="http://schemas.microsoft.com/office/drawing/2014/main" id="{95F4187F-719B-2141-9712-9EE15A4C9A28}"/>
                </a:ext>
              </a:extLst>
            </p:cNvPr>
            <p:cNvSpPr/>
            <p:nvPr/>
          </p:nvSpPr>
          <p:spPr>
            <a:xfrm rot="8139590">
              <a:off x="7670337" y="1995737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DF4CCE0A-A3EC-C543-BBA6-8A2F3FB3847B}"/>
                </a:ext>
              </a:extLst>
            </p:cNvPr>
            <p:cNvSpPr txBox="1"/>
            <p:nvPr/>
          </p:nvSpPr>
          <p:spPr>
            <a:xfrm>
              <a:off x="7943833" y="2199387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5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Groep 10">
            <a:extLst>
              <a:ext uri="{FF2B5EF4-FFF2-40B4-BE49-F238E27FC236}">
                <a16:creationId xmlns:a16="http://schemas.microsoft.com/office/drawing/2014/main" id="{118DD7FB-EE68-E14E-9E6B-A4D87427430E}"/>
              </a:ext>
            </a:extLst>
          </p:cNvPr>
          <p:cNvGrpSpPr/>
          <p:nvPr/>
        </p:nvGrpSpPr>
        <p:grpSpPr>
          <a:xfrm>
            <a:off x="1977087" y="5123225"/>
            <a:ext cx="914400" cy="914400"/>
            <a:chOff x="1433096" y="4778039"/>
            <a:chExt cx="914400" cy="914400"/>
          </a:xfrm>
        </p:grpSpPr>
        <p:sp>
          <p:nvSpPr>
            <p:cNvPr id="12" name="Teardrop 10">
              <a:extLst>
                <a:ext uri="{FF2B5EF4-FFF2-40B4-BE49-F238E27FC236}">
                  <a16:creationId xmlns:a16="http://schemas.microsoft.com/office/drawing/2014/main" id="{B9AC9D62-8A7D-2E47-A3B2-DCD8A1B9853F}"/>
                </a:ext>
              </a:extLst>
            </p:cNvPr>
            <p:cNvSpPr/>
            <p:nvPr/>
          </p:nvSpPr>
          <p:spPr>
            <a:xfrm rot="19048560">
              <a:off x="1433096" y="4778039"/>
              <a:ext cx="914400" cy="914400"/>
            </a:xfrm>
            <a:prstGeom prst="teardrop">
              <a:avLst/>
            </a:prstGeom>
            <a:solidFill>
              <a:srgbClr val="FF00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400"/>
            </a:p>
          </p:txBody>
        </p:sp>
        <p:sp>
          <p:nvSpPr>
            <p:cNvPr id="13" name="TextBox 11">
              <a:extLst>
                <a:ext uri="{FF2B5EF4-FFF2-40B4-BE49-F238E27FC236}">
                  <a16:creationId xmlns:a16="http://schemas.microsoft.com/office/drawing/2014/main" id="{4EA8FD4E-47CB-EA43-8411-88808622CA33}"/>
                </a:ext>
              </a:extLst>
            </p:cNvPr>
            <p:cNvSpPr txBox="1"/>
            <p:nvPr/>
          </p:nvSpPr>
          <p:spPr>
            <a:xfrm>
              <a:off x="1706592" y="4973629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800" dirty="0">
                  <a:solidFill>
                    <a:schemeClr val="bg1"/>
                  </a:solidFill>
                </a:rPr>
                <a:t>5</a:t>
              </a:r>
              <a:endParaRPr lang="en-BE" sz="2800">
                <a:solidFill>
                  <a:schemeClr val="bg1"/>
                </a:solidFill>
              </a:endParaRPr>
            </a:p>
          </p:txBody>
        </p:sp>
      </p:grpSp>
      <p:sp>
        <p:nvSpPr>
          <p:cNvPr id="14" name="Rechthoek 13">
            <a:extLst>
              <a:ext uri="{FF2B5EF4-FFF2-40B4-BE49-F238E27FC236}">
                <a16:creationId xmlns:a16="http://schemas.microsoft.com/office/drawing/2014/main" id="{D963363C-5147-3B42-AA21-27237B8D8BE6}"/>
              </a:ext>
            </a:extLst>
          </p:cNvPr>
          <p:cNvSpPr/>
          <p:nvPr/>
        </p:nvSpPr>
        <p:spPr>
          <a:xfrm>
            <a:off x="3784922" y="1261641"/>
            <a:ext cx="4282632" cy="106358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ardrop 17">
            <a:extLst>
              <a:ext uri="{FF2B5EF4-FFF2-40B4-BE49-F238E27FC236}">
                <a16:creationId xmlns:a16="http://schemas.microsoft.com/office/drawing/2014/main" id="{633D88B4-D423-B427-8671-FF180F00895E}"/>
              </a:ext>
            </a:extLst>
          </p:cNvPr>
          <p:cNvSpPr/>
          <p:nvPr/>
        </p:nvSpPr>
        <p:spPr>
          <a:xfrm rot="2688714">
            <a:off x="4259370" y="3161175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  <p:sp>
        <p:nvSpPr>
          <p:cNvPr id="19" name="Teardrop 12">
            <a:extLst>
              <a:ext uri="{FF2B5EF4-FFF2-40B4-BE49-F238E27FC236}">
                <a16:creationId xmlns:a16="http://schemas.microsoft.com/office/drawing/2014/main" id="{BBF19102-AA8D-673B-4EE4-6CB6A607477F}"/>
              </a:ext>
            </a:extLst>
          </p:cNvPr>
          <p:cNvSpPr/>
          <p:nvPr/>
        </p:nvSpPr>
        <p:spPr>
          <a:xfrm rot="13430058">
            <a:off x="4448745" y="4404415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  <p:sp>
        <p:nvSpPr>
          <p:cNvPr id="17" name="Teardrop 10">
            <a:extLst>
              <a:ext uri="{FF2B5EF4-FFF2-40B4-BE49-F238E27FC236}">
                <a16:creationId xmlns:a16="http://schemas.microsoft.com/office/drawing/2014/main" id="{BB93313C-7860-4DE2-96B6-F8A592377781}"/>
              </a:ext>
            </a:extLst>
          </p:cNvPr>
          <p:cNvSpPr/>
          <p:nvPr/>
        </p:nvSpPr>
        <p:spPr>
          <a:xfrm rot="19048560">
            <a:off x="7069359" y="4827870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  <p:sp>
        <p:nvSpPr>
          <p:cNvPr id="21" name="Teardrop 10">
            <a:extLst>
              <a:ext uri="{FF2B5EF4-FFF2-40B4-BE49-F238E27FC236}">
                <a16:creationId xmlns:a16="http://schemas.microsoft.com/office/drawing/2014/main" id="{8303589E-20AD-EDAF-4286-467E4BD302BB}"/>
              </a:ext>
            </a:extLst>
          </p:cNvPr>
          <p:cNvSpPr/>
          <p:nvPr/>
        </p:nvSpPr>
        <p:spPr>
          <a:xfrm rot="8139590">
            <a:off x="9611956" y="1457475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</p:spTree>
    <p:extLst>
      <p:ext uri="{BB962C8B-B14F-4D97-AF65-F5344CB8AC3E}">
        <p14:creationId xmlns:p14="http://schemas.microsoft.com/office/powerpoint/2010/main" val="24121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person standing in a crosswalk&#10;&#10;AI-generated content may be incorrect.">
            <a:extLst>
              <a:ext uri="{FF2B5EF4-FFF2-40B4-BE49-F238E27FC236}">
                <a16:creationId xmlns:a16="http://schemas.microsoft.com/office/drawing/2014/main" id="{2AC16ECD-1A47-2B46-A7B5-72F599169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22" y="0"/>
            <a:ext cx="10571356" cy="68834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CCAEF7-DD1F-F5D9-2F08-41C118255F99}"/>
              </a:ext>
            </a:extLst>
          </p:cNvPr>
          <p:cNvSpPr txBox="1"/>
          <p:nvPr/>
        </p:nvSpPr>
        <p:spPr>
          <a:xfrm>
            <a:off x="4861005" y="2934964"/>
            <a:ext cx="28444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b="1" dirty="0">
                <a:solidFill>
                  <a:srgbClr val="C00000"/>
                </a:solidFill>
                <a:latin typeface="Bradley Hand" pitchFamily="2" charset="77"/>
              </a:rPr>
              <a:t>Sarah</a:t>
            </a:r>
          </a:p>
          <a:p>
            <a:r>
              <a:rPr lang="en-NL" dirty="0">
                <a:solidFill>
                  <a:srgbClr val="C00000"/>
                </a:solidFill>
                <a:latin typeface="Bradley Hand" pitchFamily="2" charset="77"/>
              </a:rPr>
              <a:t>2nd-year BA DS Student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E4F33-1DBA-CAF6-EBDD-FACAE391EC36}"/>
              </a:ext>
            </a:extLst>
          </p:cNvPr>
          <p:cNvSpPr txBox="1"/>
          <p:nvPr/>
        </p:nvSpPr>
        <p:spPr>
          <a:xfrm>
            <a:off x="7829087" y="1170693"/>
            <a:ext cx="3428999" cy="2308324"/>
          </a:xfrm>
          <a:prstGeom prst="rect">
            <a:avLst/>
          </a:prstGeom>
          <a:solidFill>
            <a:srgbClr val="FFD579">
              <a:alpha val="40000"/>
            </a:srgb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Classmates asking the same questions repeatedly in group chats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Long email threads with administrative 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Scattered announcements across multiple channels (UM website, Student Portal, Canvas, MyUM, faculty pages)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C3636-44D4-8893-D4DC-F23D651B8DE0}"/>
              </a:ext>
            </a:extLst>
          </p:cNvPr>
          <p:cNvSpPr txBox="1"/>
          <p:nvPr/>
        </p:nvSpPr>
        <p:spPr>
          <a:xfrm>
            <a:off x="901390" y="1366897"/>
            <a:ext cx="3585117" cy="2062103"/>
          </a:xfrm>
          <a:prstGeom prst="rect">
            <a:avLst/>
          </a:prstGeom>
          <a:solidFill>
            <a:srgbClr val="FFD579">
              <a:alpha val="40000"/>
            </a:srgb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"Did you check the website?" "Which website?"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Friends complaining: "I can't find the exam schedule anywhere"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Professors saying: "All information is available online"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Study advisors: "You should have found that on Canvas/the portal"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D5B47-8AC0-9EF2-32FD-00B22C40ED6B}"/>
              </a:ext>
            </a:extLst>
          </p:cNvPr>
          <p:cNvSpPr txBox="1"/>
          <p:nvPr/>
        </p:nvSpPr>
        <p:spPr>
          <a:xfrm>
            <a:off x="901390" y="5148062"/>
            <a:ext cx="4923262" cy="1323439"/>
          </a:xfrm>
          <a:prstGeom prst="rect">
            <a:avLst/>
          </a:prstGeom>
          <a:solidFill>
            <a:srgbClr val="FFD579">
              <a:alpha val="40000"/>
            </a:srgb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Frustrated by wasting time searching across multiple platforms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Anxious about missing important deadlines or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L" sz="1600" dirty="0">
                <a:latin typeface="Bradley Hand" pitchFamily="2" charset="77"/>
              </a:rPr>
              <a:t>Embarrassed to ask "simple" questions again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009FB-64A3-F8FC-AF7C-0519DD508EAE}"/>
              </a:ext>
            </a:extLst>
          </p:cNvPr>
          <p:cNvSpPr txBox="1"/>
          <p:nvPr/>
        </p:nvSpPr>
        <p:spPr>
          <a:xfrm>
            <a:off x="6283248" y="5148062"/>
            <a:ext cx="4923262" cy="1077218"/>
          </a:xfrm>
          <a:prstGeom prst="rect">
            <a:avLst/>
          </a:prstGeom>
          <a:solidFill>
            <a:srgbClr val="FFD579">
              <a:alpha val="40000"/>
            </a:srgb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Values time efficiency for studying instead of searching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Wants to feel in control and informed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Seeks clarity and peace of mind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0375CA-3184-9AE0-4376-B03BCC6E2956}"/>
              </a:ext>
            </a:extLst>
          </p:cNvPr>
          <p:cNvSpPr txBox="1"/>
          <p:nvPr/>
        </p:nvSpPr>
        <p:spPr>
          <a:xfrm>
            <a:off x="3944745" y="3529034"/>
            <a:ext cx="4302510" cy="1077218"/>
          </a:xfrm>
          <a:prstGeom prst="rect">
            <a:avLst/>
          </a:prstGeom>
          <a:solidFill>
            <a:srgbClr val="FFD579">
              <a:alpha val="40000"/>
            </a:srgb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"I've checked three different places and got three different answers”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Sends emails to administrative offices for basic questions</a:t>
            </a:r>
            <a:endParaRPr lang="en-NL" sz="1600" dirty="0"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7944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oard with black text&#10;&#10;AI-generated content may be incorrect.">
            <a:extLst>
              <a:ext uri="{FF2B5EF4-FFF2-40B4-BE49-F238E27FC236}">
                <a16:creationId xmlns:a16="http://schemas.microsoft.com/office/drawing/2014/main" id="{E092CAA3-36C7-2D09-BDC3-28523AB93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56" y="1537"/>
            <a:ext cx="10529888" cy="68564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E5BD09-E56C-DEA0-9BCB-5A92AFDAAAA3}"/>
              </a:ext>
            </a:extLst>
          </p:cNvPr>
          <p:cNvSpPr txBox="1"/>
          <p:nvPr/>
        </p:nvSpPr>
        <p:spPr>
          <a:xfrm>
            <a:off x="4386108" y="1308255"/>
            <a:ext cx="44158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Bradley Hand" pitchFamily="2" charset="77"/>
              </a:rPr>
              <a:t>Program</a:t>
            </a:r>
            <a:r>
              <a:rPr lang="en-GB" sz="1600" dirty="0">
                <a:latin typeface="Bradley Hand" pitchFamily="2" charset="77"/>
              </a:rPr>
              <a:t>: Ma GS, 1st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Bradley Hand" pitchFamily="2" charset="77"/>
              </a:rPr>
              <a:t>Nationality</a:t>
            </a:r>
            <a:r>
              <a:rPr lang="en-GB" sz="1600" dirty="0">
                <a:latin typeface="Bradley Hand" pitchFamily="2" charset="77"/>
              </a:rPr>
              <a:t>: Singapore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Bradley Hand" pitchFamily="2" charset="77"/>
              </a:rPr>
              <a:t>Living Situation</a:t>
            </a:r>
            <a:r>
              <a:rPr lang="en-GB" sz="1600" dirty="0">
                <a:latin typeface="Bradley Hand" pitchFamily="2" charset="77"/>
              </a:rPr>
              <a:t>: Shared apartment in Maastricht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Bradley Hand" pitchFamily="2" charset="77"/>
              </a:rPr>
              <a:t>Tech Proficiency</a:t>
            </a:r>
            <a:r>
              <a:rPr lang="en-GB" sz="1600" dirty="0">
                <a:latin typeface="Bradley Hand" pitchFamily="2" charset="77"/>
              </a:rPr>
              <a:t>: High (daily smartphone user, comfortable with apps)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Bradley Hand" pitchFamily="2" charset="77"/>
              </a:rPr>
              <a:t>Languages</a:t>
            </a:r>
            <a:r>
              <a:rPr lang="en-GB" sz="1600" dirty="0">
                <a:latin typeface="Bradley Hand" pitchFamily="2" charset="77"/>
              </a:rPr>
              <a:t>: English (fluent), Mandarin (native), Dutch (basic/learning)</a:t>
            </a:r>
            <a:endParaRPr lang="en-NL" sz="1600" dirty="0">
              <a:latin typeface="Bradley Hand" pitchFamily="2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3654A-A86D-B195-AFE6-0E313F0C9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488" y="1308255"/>
            <a:ext cx="1120620" cy="1120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E5A6D2-1E44-7C74-7472-FD6703F34D16}"/>
              </a:ext>
            </a:extLst>
          </p:cNvPr>
          <p:cNvSpPr txBox="1"/>
          <p:nvPr/>
        </p:nvSpPr>
        <p:spPr>
          <a:xfrm>
            <a:off x="985838" y="1427269"/>
            <a:ext cx="2085975" cy="28007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Completed undergraduate degree in Singapore where information was centralized in one student portal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Active user of AI tools like ChatGPT for study support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102310-7D9A-89C3-DF94-01CBE855FAAA}"/>
              </a:ext>
            </a:extLst>
          </p:cNvPr>
          <p:cNvSpPr txBox="1"/>
          <p:nvPr/>
        </p:nvSpPr>
        <p:spPr>
          <a:xfrm>
            <a:off x="3226595" y="3846079"/>
            <a:ext cx="55753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Bradley Hand" pitchFamily="2" charset="77"/>
              </a:rPr>
              <a:t>Emma moved to Maastricht 4 months ago for her master's degree. As an international student, she's navigating not just academic requirements but also visa regulations, housing procedures, and Dutch bureaucracy. 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9122A-499A-375C-058F-E43E4023E2D2}"/>
              </a:ext>
            </a:extLst>
          </p:cNvPr>
          <p:cNvSpPr txBox="1"/>
          <p:nvPr/>
        </p:nvSpPr>
        <p:spPr>
          <a:xfrm>
            <a:off x="3087929" y="5403090"/>
            <a:ext cx="54762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Stay compliant with visa and residence permit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Access student services (healthcare, </a:t>
            </a:r>
            <a:r>
              <a:rPr lang="en-GB" sz="1600" dirty="0" err="1">
                <a:latin typeface="Bradley Hand" pitchFamily="2" charset="77"/>
              </a:rPr>
              <a:t>counseling</a:t>
            </a:r>
            <a:r>
              <a:rPr lang="en-GB" sz="1600" dirty="0">
                <a:latin typeface="Bradley Hand" pitchFamily="2" charset="77"/>
              </a:rPr>
              <a:t>, career support)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F8B94-541F-38A2-944B-DE3789D88521}"/>
              </a:ext>
            </a:extLst>
          </p:cNvPr>
          <p:cNvSpPr txBox="1"/>
          <p:nvPr/>
        </p:nvSpPr>
        <p:spPr>
          <a:xfrm>
            <a:off x="8861426" y="3429000"/>
            <a:ext cx="25963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Difficulty determining if information is up-to-date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Platform-hopping is exhausting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37813-4F47-5194-609A-FC4EACDBB478}"/>
              </a:ext>
            </a:extLst>
          </p:cNvPr>
          <p:cNvSpPr txBox="1"/>
          <p:nvPr/>
        </p:nvSpPr>
        <p:spPr>
          <a:xfrm>
            <a:off x="2510694" y="193026"/>
            <a:ext cx="2414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latin typeface="Bradley Hand" pitchFamily="2" charset="77"/>
              </a:rPr>
              <a:t>Emma Chen - </a:t>
            </a:r>
            <a:r>
              <a:rPr lang="en-GB" b="1" dirty="0">
                <a:latin typeface="Bradley Hand" pitchFamily="2" charset="77"/>
              </a:rPr>
              <a:t>Age</a:t>
            </a:r>
            <a:r>
              <a:rPr lang="en-GB" dirty="0">
                <a:latin typeface="Bradley Hand" pitchFamily="2" charset="77"/>
              </a:rPr>
              <a:t>: 21</a:t>
            </a:r>
          </a:p>
          <a:p>
            <a:endParaRPr lang="en-NL" dirty="0"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39091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with a diagram and a diagram&#10;&#10;AI-generated content may be incorrect.">
            <a:extLst>
              <a:ext uri="{FF2B5EF4-FFF2-40B4-BE49-F238E27FC236}">
                <a16:creationId xmlns:a16="http://schemas.microsoft.com/office/drawing/2014/main" id="{94D793DF-F006-4E0A-A642-3E130FADD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76" y="0"/>
            <a:ext cx="1053224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18A1C5-48AD-1E06-6B2C-08E5995D5525}"/>
              </a:ext>
            </a:extLst>
          </p:cNvPr>
          <p:cNvSpPr txBox="1"/>
          <p:nvPr/>
        </p:nvSpPr>
        <p:spPr>
          <a:xfrm>
            <a:off x="7281747" y="367991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latin typeface="Bradley Hand" pitchFamily="2" charset="77"/>
              </a:rPr>
              <a:t>Peter</a:t>
            </a:r>
          </a:p>
          <a:p>
            <a:r>
              <a:rPr lang="en-NL" dirty="0">
                <a:latin typeface="Bradley Hand" pitchFamily="2" charset="77"/>
              </a:rPr>
              <a:t>1st year BA 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A8D9A-1552-BDB8-895E-CC5DC9C899E9}"/>
              </a:ext>
            </a:extLst>
          </p:cNvPr>
          <p:cNvSpPr txBox="1"/>
          <p:nvPr/>
        </p:nvSpPr>
        <p:spPr>
          <a:xfrm>
            <a:off x="2115014" y="1215045"/>
            <a:ext cx="3980986" cy="584775"/>
          </a:xfrm>
          <a:prstGeom prst="rect">
            <a:avLst/>
          </a:prstGeom>
          <a:solidFill>
            <a:srgbClr val="FFD579">
              <a:alpha val="29804"/>
            </a:srgb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Bradley Hand" pitchFamily="2" charset="77"/>
              </a:rPr>
              <a:t>Lisa needs to find the deadline for course registration for Period 3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0F879-76F8-79C2-8FDC-95883883C61D}"/>
              </a:ext>
            </a:extLst>
          </p:cNvPr>
          <p:cNvSpPr txBox="1"/>
          <p:nvPr/>
        </p:nvSpPr>
        <p:spPr>
          <a:xfrm>
            <a:off x="2698595" y="1844424"/>
            <a:ext cx="1423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1 - Awareness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581BAA-B9C5-9699-1969-CC5D9F3969C5}"/>
              </a:ext>
            </a:extLst>
          </p:cNvPr>
          <p:cNvSpPr txBox="1"/>
          <p:nvPr/>
        </p:nvSpPr>
        <p:spPr>
          <a:xfrm>
            <a:off x="4378713" y="1844424"/>
            <a:ext cx="17604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2 – Initial Search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1B26B4-2CE8-9F2D-8E79-937BB34C8306}"/>
              </a:ext>
            </a:extLst>
          </p:cNvPr>
          <p:cNvSpPr txBox="1"/>
          <p:nvPr/>
        </p:nvSpPr>
        <p:spPr>
          <a:xfrm>
            <a:off x="6139131" y="1844424"/>
            <a:ext cx="15536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3 – Frustration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F6727-973A-54F3-E156-3694EB4F4CDE}"/>
              </a:ext>
            </a:extLst>
          </p:cNvPr>
          <p:cNvSpPr txBox="1"/>
          <p:nvPr/>
        </p:nvSpPr>
        <p:spPr>
          <a:xfrm>
            <a:off x="7899549" y="1844424"/>
            <a:ext cx="1685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4 – Seeking help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6BE88E-4610-6540-16A6-F20565060DC7}"/>
              </a:ext>
            </a:extLst>
          </p:cNvPr>
          <p:cNvSpPr txBox="1"/>
          <p:nvPr/>
        </p:nvSpPr>
        <p:spPr>
          <a:xfrm>
            <a:off x="9638610" y="1844424"/>
            <a:ext cx="14911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5 – Resolution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5BB43-B17A-C572-58DE-4C441D03B2DC}"/>
              </a:ext>
            </a:extLst>
          </p:cNvPr>
          <p:cNvSpPr txBox="1"/>
          <p:nvPr/>
        </p:nvSpPr>
        <p:spPr>
          <a:xfrm>
            <a:off x="2698595" y="5745318"/>
            <a:ext cx="1566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😊 </a:t>
            </a:r>
            <a:r>
              <a:rPr lang="en-GB" sz="1600" dirty="0">
                <a:latin typeface="Bradley Hand" pitchFamily="2" charset="77"/>
              </a:rPr>
              <a:t>Neutral, slightly concerned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3D453-27F1-D95F-BDA0-234DC25DD46C}"/>
              </a:ext>
            </a:extLst>
          </p:cNvPr>
          <p:cNvSpPr txBox="1"/>
          <p:nvPr/>
        </p:nvSpPr>
        <p:spPr>
          <a:xfrm>
            <a:off x="2627041" y="2139761"/>
            <a:ext cx="163845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Remembers professor mentioned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Checks email for announcements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B28DC-CBB6-4C5E-4615-6B5F1C33C7E7}"/>
              </a:ext>
            </a:extLst>
          </p:cNvPr>
          <p:cNvSpPr txBox="1"/>
          <p:nvPr/>
        </p:nvSpPr>
        <p:spPr>
          <a:xfrm>
            <a:off x="4329170" y="2182978"/>
            <a:ext cx="18050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Opens UM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Searches "course 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Clicks on 3-4 different links 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209FF1-6C5E-B732-DFFF-39BD621076DD}"/>
              </a:ext>
            </a:extLst>
          </p:cNvPr>
          <p:cNvSpPr txBox="1"/>
          <p:nvPr/>
        </p:nvSpPr>
        <p:spPr>
          <a:xfrm>
            <a:off x="4303152" y="5745318"/>
            <a:ext cx="176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😕 </a:t>
            </a:r>
            <a:r>
              <a:rPr lang="en-GB" sz="1600" dirty="0">
                <a:latin typeface="Bradley Hand" pitchFamily="2" charset="77"/>
              </a:rPr>
              <a:t>Confused, slightly frustrated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913C88-4EAC-3F2C-3ACF-3B489978748D}"/>
              </a:ext>
            </a:extLst>
          </p:cNvPr>
          <p:cNvSpPr txBox="1"/>
          <p:nvPr/>
        </p:nvSpPr>
        <p:spPr>
          <a:xfrm>
            <a:off x="6062656" y="2212165"/>
            <a:ext cx="1960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Tries Student Portal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Checks Canvas announcements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Finds conflicting dates on different platforms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C2F0BF-65E1-1A00-7302-32B5F89D3298}"/>
              </a:ext>
            </a:extLst>
          </p:cNvPr>
          <p:cNvSpPr txBox="1"/>
          <p:nvPr/>
        </p:nvSpPr>
        <p:spPr>
          <a:xfrm>
            <a:off x="7859821" y="2212165"/>
            <a:ext cx="1960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Posts in class WhatsApp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Waits for responses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Emails study advisor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Waits 24-48 hours for response |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6A107-4013-22E9-9E16-CB2619FD6C20}"/>
              </a:ext>
            </a:extLst>
          </p:cNvPr>
          <p:cNvSpPr txBox="1"/>
          <p:nvPr/>
        </p:nvSpPr>
        <p:spPr>
          <a:xfrm>
            <a:off x="7823474" y="5745317"/>
            <a:ext cx="176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😰 </a:t>
            </a:r>
            <a:r>
              <a:rPr lang="en-GB" sz="1600" dirty="0">
                <a:latin typeface="Bradley Hand" pitchFamily="2" charset="77"/>
              </a:rPr>
              <a:t>Anxious, embarrassed, stressed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8573CF-08F8-893B-E00F-432AAD9494C1}"/>
              </a:ext>
            </a:extLst>
          </p:cNvPr>
          <p:cNvSpPr txBox="1"/>
          <p:nvPr/>
        </p:nvSpPr>
        <p:spPr>
          <a:xfrm>
            <a:off x="6128432" y="5745316"/>
            <a:ext cx="176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😤 </a:t>
            </a:r>
            <a:r>
              <a:rPr lang="en-GB" sz="1600" dirty="0">
                <a:latin typeface="Bradley Hand" pitchFamily="2" charset="77"/>
              </a:rPr>
              <a:t>Frustrated, anxious, overwhelmed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D6EE68-B2F5-7B8C-7B15-1D901E575366}"/>
              </a:ext>
            </a:extLst>
          </p:cNvPr>
          <p:cNvSpPr txBox="1"/>
          <p:nvPr/>
        </p:nvSpPr>
        <p:spPr>
          <a:xfrm>
            <a:off x="9564959" y="2225773"/>
            <a:ext cx="19603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Receives email from student advisor (2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Gets the correct deadline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latin typeface="Bradley Hand" pitchFamily="2" charset="77"/>
              </a:rPr>
              <a:t>Shares with classmates who had same question</a:t>
            </a:r>
            <a:endParaRPr lang="en-NL" sz="1600" dirty="0">
              <a:latin typeface="Bradley Hand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E85419-E78D-48E7-49AF-871D9229B7B9}"/>
              </a:ext>
            </a:extLst>
          </p:cNvPr>
          <p:cNvSpPr txBox="1"/>
          <p:nvPr/>
        </p:nvSpPr>
        <p:spPr>
          <a:xfrm>
            <a:off x="9592799" y="5343426"/>
            <a:ext cx="17604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1600" dirty="0">
                <a:latin typeface="Bradley Hand" pitchFamily="2" charset="77"/>
              </a:rPr>
              <a:t> 😮‍💨 </a:t>
            </a:r>
            <a:r>
              <a:rPr lang="en-GB" sz="1600" dirty="0">
                <a:latin typeface="Bradley Hand" pitchFamily="2" charset="77"/>
              </a:rPr>
              <a:t>Relieved but exhausted, residual frustration</a:t>
            </a:r>
            <a:endParaRPr lang="en-NL" sz="1600" dirty="0"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2221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variety of symbols&#10;&#10;AI-generated content may be incorrect.">
            <a:extLst>
              <a:ext uri="{FF2B5EF4-FFF2-40B4-BE49-F238E27FC236}">
                <a16:creationId xmlns:a16="http://schemas.microsoft.com/office/drawing/2014/main" id="{E901754A-6553-81C8-9975-7E6EA3FE0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0" y="742950"/>
            <a:ext cx="7772400" cy="4820711"/>
          </a:xfrm>
          <a:prstGeom prst="rect">
            <a:avLst/>
          </a:prstGeom>
        </p:spPr>
      </p:pic>
      <p:sp>
        <p:nvSpPr>
          <p:cNvPr id="5" name="Teardrop 10">
            <a:extLst>
              <a:ext uri="{FF2B5EF4-FFF2-40B4-BE49-F238E27FC236}">
                <a16:creationId xmlns:a16="http://schemas.microsoft.com/office/drawing/2014/main" id="{3EC0CA8E-98BD-08F8-65D2-FC779C9E720E}"/>
              </a:ext>
            </a:extLst>
          </p:cNvPr>
          <p:cNvSpPr/>
          <p:nvPr/>
        </p:nvSpPr>
        <p:spPr>
          <a:xfrm rot="19048560">
            <a:off x="8379077" y="2971800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  <p:sp>
        <p:nvSpPr>
          <p:cNvPr id="7" name="Teardrop 10">
            <a:extLst>
              <a:ext uri="{FF2B5EF4-FFF2-40B4-BE49-F238E27FC236}">
                <a16:creationId xmlns:a16="http://schemas.microsoft.com/office/drawing/2014/main" id="{E8F2983A-1229-A063-55F2-F5767748AEE2}"/>
              </a:ext>
            </a:extLst>
          </p:cNvPr>
          <p:cNvSpPr/>
          <p:nvPr/>
        </p:nvSpPr>
        <p:spPr>
          <a:xfrm rot="19048560">
            <a:off x="2197100" y="2988528"/>
            <a:ext cx="914400" cy="914400"/>
          </a:xfrm>
          <a:prstGeom prst="teardrop">
            <a:avLst/>
          </a:prstGeom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400"/>
          </a:p>
        </p:txBody>
      </p:sp>
    </p:spTree>
    <p:extLst>
      <p:ext uri="{BB962C8B-B14F-4D97-AF65-F5344CB8AC3E}">
        <p14:creationId xmlns:p14="http://schemas.microsoft.com/office/powerpoint/2010/main" val="624307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426</Words>
  <Application>Microsoft Macintosh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Bradley Hand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Wils, Arnoud (LK)</dc:creator>
  <cp:lastModifiedBy>Wils, Arnoud (LK)</cp:lastModifiedBy>
  <cp:revision>13</cp:revision>
  <dcterms:created xsi:type="dcterms:W3CDTF">2025-11-15T14:44:16Z</dcterms:created>
  <dcterms:modified xsi:type="dcterms:W3CDTF">2025-11-24T21:21:15Z</dcterms:modified>
</cp:coreProperties>
</file>